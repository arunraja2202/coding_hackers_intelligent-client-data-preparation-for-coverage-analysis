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791E3A3-9CB3-30FF-2672-6201DE8EC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332" y="0"/>
            <a:ext cx="12318332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05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CSI Smart Data Transformation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CCE2F4"/>
                </a:solidFill>
                <a:latin typeface="Aptos"/>
              </a:rPr>
              <a:t>AI-powered client shipment data preparation for faster and more standardized Coverage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880360"/>
            <a:ext cx="164592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0" y="29077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HACKFEST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880360"/>
            <a:ext cx="182880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0" y="29077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AI +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Messy client files → business-aware AI plan → deterministic transformation → client-ready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Preparation before Coverage Analysis is manual, repetitive and inconsistent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64646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65960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Different file formats and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41448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Headers and terminology vary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1693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16936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Manual field identification and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92424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Missing/incomplete/ambiguous data needs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6791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67912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Repeated preparation across regions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8736"/>
                </a:solidFill>
                <a:latin typeface="Aptos"/>
              </a:rPr>
              <a:t>BUSINESS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736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965960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Preparation can take hours or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4144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736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441448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Coverage Analysis starts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1693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736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916936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Inconsistent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9242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736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392424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More client clarification/back-and-forth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6791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736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867912"/>
            <a:ext cx="4361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Difficult to create a reusable global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What the Solution Must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Directly aligned to the participant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1" y="1399032"/>
            <a:ext cx="123444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2646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417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Excel, CSV and common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28232" y="1399032"/>
            <a:ext cx="123444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42646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417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Identify/classify relevant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1" y="2816352"/>
            <a:ext cx="1234440" cy="347472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8437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Missing, inconsistent and ambiguous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517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28232" y="2816352"/>
            <a:ext cx="123444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284378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Descriptions, packs, units, brands, categories, markets, 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1" y="4233672"/>
            <a:ext cx="123444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426110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51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Recommend mappings to NIQ structures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69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28232" y="4233672"/>
            <a:ext cx="123444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26110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251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303A"/>
                </a:solidFill>
                <a:latin typeface="Aptos"/>
              </a:rPr>
              <a:t>Issues + actionable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AI plans the work; deterministic engines execute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40280"/>
            <a:ext cx="1600200" cy="123444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CLIENT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Excel /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852928"/>
            <a:ext cx="338328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68296" y="2240280"/>
            <a:ext cx="1600200" cy="1234440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59736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Sheets + headers + samples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8496" y="2852928"/>
            <a:ext cx="338328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25112" y="2240280"/>
            <a:ext cx="1600200" cy="1234440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GUIDE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Business rules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25312" y="2852928"/>
            <a:ext cx="338328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1928" y="2240280"/>
            <a:ext cx="1600200" cy="1234440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CSI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Interpret + plan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2128" y="2852928"/>
            <a:ext cx="338328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38744" y="2240280"/>
            <a:ext cx="1600200" cy="1234440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3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Polars / Spark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38944" y="2852928"/>
            <a:ext cx="338328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95560" y="2240280"/>
            <a:ext cx="1600200" cy="123444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7000" y="23682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71576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Submission +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CSI LLM determines header, mapping, cleaning method, dataset mode, period strategy, assumptions and review items.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8963"/>
                </a:solidFill>
                <a:latin typeface="Aptos"/>
              </a:rPr>
              <a:t>Then Polars/PySpark performs repeatable, testable and traceable transformations.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From upload to client-ready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331720" cy="109728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Create job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87451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19272" y="1325880"/>
            <a:ext cx="2331720" cy="1097280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File + sheets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50992" y="187451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27064" y="1325880"/>
            <a:ext cx="2331720" cy="1097280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Rules first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58784" y="187451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34856" y="1325880"/>
            <a:ext cx="2331720" cy="1097280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26296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 CSI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Per-sheet plan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71632" y="2423160"/>
            <a:ext cx="0" cy="45720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1480" y="3474720"/>
            <a:ext cx="2331720" cy="1097280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Apply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402335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19272" y="3474720"/>
            <a:ext cx="2331720" cy="109728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10712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 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Normal / Long / Matrix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50992" y="402335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880360" y="4023359"/>
            <a:ext cx="43891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27064" y="3474720"/>
            <a:ext cx="2331720" cy="1097280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 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DQ + reconciliation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58784" y="4023359"/>
            <a:ext cx="48463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788152" y="4023359"/>
            <a:ext cx="43891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34856" y="3474720"/>
            <a:ext cx="2331720" cy="10972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26296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Submission + reports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695944" y="4023359"/>
            <a:ext cx="438912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Business Guide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The system understands the business requirement before interpreting client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28016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1. LOAD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Target structure + rules +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128016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8562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2. PROFILE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Sheets + candidate headers + sample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58200" y="1828800"/>
            <a:ext cx="128016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85623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3. ASK CSI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Guide + sheet context + limited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07C"/>
                </a:solidFill>
                <a:latin typeface="Aptos"/>
              </a:rPr>
              <a:t>Full client files are not sent to the LLM. The model receives the context needed to make the processing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CSI LLM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Per-sheet intelligence makes the solution adaptable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114300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933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Detect actual header 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1463039"/>
            <a:ext cx="114300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Understand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1463039"/>
            <a:ext cx="114300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933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Source →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59" y="3566160"/>
            <a:ext cx="114300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593591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09651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Determine required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17720" y="3566160"/>
            <a:ext cx="114300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593591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9651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Normal / Long /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3566160"/>
            <a:ext cx="1143000" cy="347472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593591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9651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303A"/>
                </a:solidFill>
                <a:latin typeface="Aptos"/>
              </a:rPr>
              <a:t>Confidence + ambiguity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AI is the interpretation/planning layer—not a blind row-by-row cleaner.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Per-Sheet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A single workbook can contain multiple independent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749039" cy="461772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CLIENT_WORKBOOK.xlsx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246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70048"/>
            <a:ext cx="3246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Shipment_Data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3246120" cy="438912"/>
          </a:xfrm>
          <a:prstGeom prst="roundRect">
            <a:avLst/>
          </a:prstGeom>
          <a:solidFill>
            <a:srgbClr val="E8F5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419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Monthly_Matrix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86784"/>
            <a:ext cx="3246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4078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Guide/instruction sheets are excluded from shipment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34440"/>
            <a:ext cx="690372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48132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8736"/>
                </a:solidFill>
                <a:latin typeface="Aptos"/>
              </a:rPr>
              <a:t>EXAMPLE CSI SHEET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659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Header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963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96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026663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2666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Country ← Market; Brand ← Brand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557015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Cleaning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5701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Trim + numeric normalization + identifier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873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Periods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87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Jan-25, Feb-25, Mar-25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6177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07C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303A"/>
                </a:solidFill>
                <a:latin typeface="Aptos"/>
              </a:rPr>
              <a:t>SKU not inferred without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Cleaning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Rules are field-aware and determined by the processing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PROCESSING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Trim; proper case where appropriate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Do not change business meaning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Email / Phone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Normalize formatting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Never invent values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Safe parsing + standard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Invalid values become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Numeric fact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Remove separators; convert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Preserve 0 and negative values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SKU / ID / UPC / EAN / GTIN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Preserve 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Do not destructive-cast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Postal code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Preserve representation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A"/>
                          </a:solidFill>
                        </a:rPr>
                        <a:t>Keep leading zeros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Three Transformation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Different source layouts are handled by the same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37160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One source row → one target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A"/>
                </a:solidFill>
                <a:latin typeface="Aptos"/>
              </a:rPr>
              <a:t>Standard tabular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4707C"/>
                </a:solidFill>
                <a:latin typeface="Aptos"/>
              </a:rPr>
              <a:t>CSI plan → deterministic transformer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60" y="1691640"/>
            <a:ext cx="137160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719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LONG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23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Year + Period + Fact → period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A"/>
                </a:solidFill>
                <a:latin typeface="Aptos"/>
              </a:rPr>
              <a:t>P01, P02…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4707C"/>
                </a:solidFill>
                <a:latin typeface="Aptos"/>
              </a:rPr>
              <a:t>CSI plan → deterministic transformer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20" y="1691640"/>
            <a:ext cx="137160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719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MATRIX / 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23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A42"/>
                </a:solidFill>
                <a:latin typeface="Aptos"/>
              </a:rPr>
              <a:t>Periods already across 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A"/>
                </a:solidFill>
                <a:latin typeface="Aptos"/>
              </a:rPr>
              <a:t>Jan-25 | Feb-25 | Mar-25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4707C"/>
                </a:solidFill>
                <a:latin typeface="Aptos"/>
              </a:rPr>
              <a:t>CSI plan → deterministic 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Target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Standardized client-facing structure with period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4707C"/>
                </a:solidFill>
                <a:latin typeface="Aptos"/>
              </a:rPr>
              <a:t>CORE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325880" cy="91440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Country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28800"/>
            <a:ext cx="1325880" cy="91440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1325880" cy="91440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28800"/>
            <a:ext cx="132588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City/State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132588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828800"/>
            <a:ext cx="132588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Brand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28800"/>
            <a:ext cx="132588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SKU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1828800"/>
            <a:ext cx="132588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44200" y="2075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8736"/>
                </a:solidFill>
                <a:latin typeface="Aptos"/>
              </a:rPr>
              <a:t>+ time periods remain as columns when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Jan-25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Feb-25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Mar-25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Apr-25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May-25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886200"/>
            <a:ext cx="1143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4069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6303A"/>
                </a:solidFill>
                <a:latin typeface="Aptos"/>
              </a:rPr>
              <a:t>Jun-25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64646"/>
                </a:solidFill>
                <a:latin typeface="Aptos"/>
              </a:rPr>
              <a:t>Unsupported target fields are not guessed; they remain null or are flagged for review.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Large Workbook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Example: ~360 MB Excel workbook with multiple different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291840" cy="123444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8249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≤ 1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7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Polars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94760"/>
            <a:ext cx="3291840" cy="1234440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9227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&gt; 1 GiB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7024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PySpark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280160"/>
            <a:ext cx="6903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360 MB MULTI-SHEET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5740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9CB4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057400"/>
            <a:ext cx="5779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Inspect/stream sheets instead of loading the entire workbook into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3288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9CB4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532888"/>
            <a:ext cx="5779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Send CSI guide + structure + limited samples.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00837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9CB4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008376"/>
            <a:ext cx="5779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Create a separate plan for every relevant sheet.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8386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9CB4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483864"/>
            <a:ext cx="5779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Process the full data deterministically after planning.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59352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9CB4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959352"/>
            <a:ext cx="57790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For very large Excel, stream/convert into processing-friendly intermediates before Spark execution.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77639" y="2176272"/>
            <a:ext cx="548641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77639" y="4416552"/>
            <a:ext cx="548641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Validation, Traceability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Every output should be explainable and reviewable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1645920"/>
            <a:ext cx="1234440" cy="347472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733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286000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Invalid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61488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Non-numeric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3697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236976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Mapping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646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712464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Quality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17720" y="1645920"/>
            <a:ext cx="123444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16733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69AA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286000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Source 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6148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69AA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761488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Source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3697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69AA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236976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Source→target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1246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69AA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3712464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Processing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0" y="1645920"/>
            <a:ext cx="123444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6733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286000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52A8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2286000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No invented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761488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52A8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2761488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Preserve zero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236976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52A8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3236976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Preserve signed values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712464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52A8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712464"/>
            <a:ext cx="2670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303A"/>
                </a:solidFill>
                <a:latin typeface="Aptos"/>
              </a:rPr>
              <a:t>Protect identifiers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UI Screenshot — Processing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Conceptual product screen for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029200"/>
          </a:xfrm>
          <a:prstGeom prst="roundRect">
            <a:avLst/>
          </a:prstGeom>
          <a:solidFill>
            <a:srgbClr val="FAFBFD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155680" cy="438912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CSI Smart Data Transformation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A42"/>
                </a:solidFill>
                <a:latin typeface="Aptos"/>
              </a:rPr>
              <a:t>Shipment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114300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1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682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C"/>
                </a:solidFill>
                <a:latin typeface="Aptos"/>
              </a:rPr>
              <a:t>job_20260924_001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6583680" cy="292608"/>
          </a:xfrm>
          <a:prstGeom prst="roundRect">
            <a:avLst/>
          </a:prstGeom>
          <a:solidFill>
            <a:srgbClr val="DBE4ED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4983480" cy="292608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303A"/>
                </a:solidFill>
                <a:latin typeface="Aptos"/>
              </a:rPr>
              <a:t>72% • Cleaning and transforming each 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49039"/>
            <a:ext cx="148132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07C"/>
                </a:solidFill>
                <a:latin typeface="Apto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69AA"/>
                </a:solidFill>
                <a:latin typeface="Aptos"/>
              </a:rPr>
              <a:t>POLARS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49039"/>
            <a:ext cx="148132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14600" y="393192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07C"/>
                </a:solidFill>
                <a:latin typeface="Aptos"/>
              </a:rPr>
              <a:t>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7939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9CB4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749039"/>
            <a:ext cx="148132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393192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07C"/>
                </a:solidFill>
                <a:latin typeface="Aptos"/>
              </a:rPr>
              <a:t>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7939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8963"/>
                </a:solidFill>
                <a:latin typeface="Aptos"/>
              </a:rPr>
              <a:t>1.24M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749039"/>
            <a:ext cx="148132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3931920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07C"/>
                </a:solidFill>
                <a:latin typeface="Aptos"/>
              </a:rPr>
              <a:t>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427939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4646"/>
                </a:solidFill>
                <a:latin typeface="Aptos"/>
              </a:rPr>
              <a:t>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82880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A42"/>
                </a:solidFill>
                <a:latin typeface="Aptos"/>
              </a:rPr>
              <a:t>Sheet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517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6303A"/>
                </a:solidFill>
                <a:latin typeface="Aptos"/>
              </a:rPr>
              <a:t>Shipment_Data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2624328"/>
            <a:ext cx="91440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980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2186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6303A"/>
                </a:solidFill>
                <a:latin typeface="Aptos"/>
              </a:rPr>
              <a:t>Monthly_Matrix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3191256"/>
            <a:ext cx="91440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29800" y="3218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78561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6303A"/>
                </a:solidFill>
                <a:latin typeface="Aptos"/>
              </a:rPr>
              <a:t>Returns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3758183"/>
            <a:ext cx="91440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9800" y="378561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3525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6303A"/>
                </a:solidFill>
                <a:latin typeface="Aptos"/>
              </a:rPr>
              <a:t>Guide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0" y="4325112"/>
            <a:ext cx="914400" cy="347472"/>
          </a:xfrm>
          <a:prstGeom prst="roundRect">
            <a:avLst/>
          </a:prstGeom>
          <a:solidFill>
            <a:srgbClr val="64707C"/>
          </a:solidFill>
          <a:ln>
            <a:solidFill>
              <a:srgbClr val="64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29800" y="43525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22A42"/>
                </a:solidFill>
                <a:latin typeface="Aptos"/>
              </a:rPr>
              <a:t>Actions: View Plan • View Issues • Download Submission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UI Screenshot — Client Submission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Conceptual output screen / workbook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A42"/>
                </a:solidFill>
                <a:latin typeface="Aptos"/>
              </a:rPr>
              <a:t>Client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353312"/>
            <a:ext cx="109728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12680" y="13807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82296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Country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1056" y="1965960"/>
            <a:ext cx="73152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1056" y="2103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Region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1965960"/>
            <a:ext cx="73152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2103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1965960"/>
            <a:ext cx="91440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7248" y="2103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City/State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78224" y="1965960"/>
            <a:ext cx="82296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78224" y="21031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965960"/>
            <a:ext cx="68580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210312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Brand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0136" y="1965960"/>
            <a:ext cx="73152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0136" y="2103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SKU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8232" y="1965960"/>
            <a:ext cx="59436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1031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Fact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1965960"/>
            <a:ext cx="64008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21031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Jan-25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35824" y="1965960"/>
            <a:ext cx="640080" cy="457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35824" y="21031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Feb-25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46888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256946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91056" y="246888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91056" y="25694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246888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9152" y="25694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27248" y="2468880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27248" y="256946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78224" y="246888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78224" y="256946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2468880"/>
            <a:ext cx="685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0" y="256946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0136" y="246888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0136" y="25694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28232" y="2468880"/>
            <a:ext cx="5943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28232" y="25694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246888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6946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35824" y="246888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35824" y="256946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297180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307238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91056" y="297180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91056" y="307238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59152" y="297180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59152" y="307238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27248" y="2971800"/>
            <a:ext cx="9144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27248" y="307238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78224" y="297180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78224" y="307238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0" y="2971800"/>
            <a:ext cx="6858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37760" y="30723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0136" y="297180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60136" y="307238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28232" y="2971800"/>
            <a:ext cx="5943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28232" y="307238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59168" y="297180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59168" y="30723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35824" y="297180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35824" y="307238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347472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1520" y="357530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591056" y="347472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591056" y="357530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59152" y="347472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359152" y="357530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127248" y="3474720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27248" y="357530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078224" y="347472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78224" y="357530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37760" y="3474720"/>
            <a:ext cx="685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37760" y="35753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0136" y="347472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60136" y="357530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28232" y="3474720"/>
            <a:ext cx="5943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28232" y="357530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59168" y="347472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059168" y="35753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35824" y="347472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735824" y="357530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397764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1520" y="407822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591056" y="397764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591056" y="407822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59152" y="397764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359152" y="407822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127248" y="3977640"/>
            <a:ext cx="9144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127248" y="407822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078224" y="397764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78224" y="407822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37760" y="3977640"/>
            <a:ext cx="6858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937760" y="40782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60136" y="397764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660136" y="407822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28232" y="3977640"/>
            <a:ext cx="5943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428232" y="407822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059168" y="397764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059168" y="407822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735824" y="397764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735824" y="407822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448056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31520" y="458114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591056" y="448056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591056" y="458114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359152" y="448056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359152" y="458114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127248" y="4480560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127248" y="458114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078224" y="4480560"/>
            <a:ext cx="8229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078224" y="458114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937760" y="4480560"/>
            <a:ext cx="685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937760" y="458114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660136" y="448056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660136" y="458114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428232" y="4480560"/>
            <a:ext cx="5943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428232" y="458114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059168" y="448056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059168" y="458114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735824" y="4480560"/>
            <a:ext cx="6400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735824" y="458114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498348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31520" y="508406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US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91056" y="498348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591056" y="50840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South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359152" y="498348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359152" y="50840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Retail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127248" y="4983480"/>
            <a:ext cx="9144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127248" y="508406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Austin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078224" y="4983480"/>
            <a:ext cx="8229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078224" y="5084064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Skin Care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937760" y="4983480"/>
            <a:ext cx="68580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937760" y="508406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Brand 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660136" y="4983480"/>
            <a:ext cx="73152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660136" y="50840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SKU-001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428232" y="4983480"/>
            <a:ext cx="59436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28232" y="5084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1250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059168" y="498348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059168" y="508406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0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735824" y="4983480"/>
            <a:ext cx="640080" cy="411480"/>
          </a:xfrm>
          <a:prstGeom prst="roundRect">
            <a:avLst/>
          </a:prstGeom>
          <a:solidFill>
            <a:srgbClr val="F4F7FA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7735824" y="508406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6303A"/>
                </a:solidFill>
                <a:latin typeface="Aptos"/>
              </a:rPr>
              <a:t>-25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7240" y="58064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4707C"/>
                </a:solidFill>
                <a:latin typeface="Aptos"/>
              </a:rPr>
              <a:t>Workbook tabs: Client Submission | Traceability | Data Quality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Output &amp; Reporting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The solution produces a complete, auditable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1" y="1399032"/>
            <a:ext cx="137160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264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CLIENT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Standardized client-ready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2512" y="1399032"/>
            <a:ext cx="137160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4264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Source sheet + row + mapping 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1" y="2724912"/>
            <a:ext cx="137160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752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Quality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82512" y="2724912"/>
            <a:ext cx="1371600" cy="347472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752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ISSUES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Actionable row-level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1" y="4050791"/>
            <a:ext cx="137160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4078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PROCESSING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Engine, confidence, rules, assumptions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86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2512" y="4050791"/>
            <a:ext cx="137160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078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Input/output comparison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1207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4671" y="5376671"/>
            <a:ext cx="1371600" cy="347472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540410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METHOD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39" y="53949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AI use + assumptions +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Job Management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Every run is tracked in SQLite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1828800" cy="114300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3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QUEUED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414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Job 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542032"/>
            <a:ext cx="365760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965960"/>
            <a:ext cx="1828800" cy="1143000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2093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4414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Stage + progress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542032"/>
            <a:ext cx="365759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965960"/>
            <a:ext cx="1828800" cy="1143000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2093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4414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Issues + 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58584" y="2542032"/>
            <a:ext cx="365760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965960"/>
            <a:ext cx="1828800" cy="1143000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6" y="2093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414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Artifacts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26296" y="2542032"/>
            <a:ext cx="365760" cy="0"/>
          </a:xfrm>
          <a:prstGeom prst="line">
            <a:avLst/>
          </a:prstGeom>
          <a:ln w="25400">
            <a:solidFill>
              <a:srgbClr val="64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965960"/>
            <a:ext cx="1828800" cy="11430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2093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4414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A42"/>
                </a:solidFill>
                <a:latin typeface="Aptos"/>
              </a:rPr>
              <a:t>Status, progress, stage, engine, LLM mode, confidence, row counts, issue counts, artifact paths and timestamps are retained.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Solution-to-Problem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How the build answers the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Different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Multi-format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Unclear headers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CSI header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Different terminology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14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AI source→target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Data quality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Cleaning +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Ambiguity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57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Confidence + review flags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Large workbooks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657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Polars/PySpark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Repeated manual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800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Reusable templates + job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177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646"/>
                </a:solidFill>
                <a:latin typeface="Aptos"/>
              </a:rPr>
              <a:t>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800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A"/>
                </a:solidFill>
                <a:latin typeface="Aptos"/>
              </a:rPr>
              <a:t>→ Traceability +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Scalability &amp; Global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Designed as a platform, not a one-off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1508760"/>
            <a:ext cx="1280160" cy="347472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CONFIGURABLE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Templates + required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1508760"/>
            <a:ext cx="128016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361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SHEET-LEVEL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Independent sheet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1508760"/>
            <a:ext cx="128016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361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ENGINE-BASED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Polars / Spark by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59" y="3657600"/>
            <a:ext cx="128016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685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AI +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06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Business-aware + deterministic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17720" y="3657600"/>
            <a:ext cx="1280160" cy="347472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685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06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Traceability +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3657600"/>
            <a:ext cx="1280160" cy="347472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685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EXTENSIBLE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303A"/>
                </a:solidFill>
                <a:latin typeface="Aptos"/>
              </a:rPr>
              <a:t>New formats/rules/templates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The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AAC3D7"/>
                </a:solidFill>
                <a:latin typeface="Aptos"/>
              </a:rPr>
              <a:t>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Manual • Repetitive • File-specific • Hard to audit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2788920"/>
            <a:ext cx="0" cy="868680"/>
          </a:xfrm>
          <a:prstGeom prst="line">
            <a:avLst/>
          </a:prstGeom>
          <a:ln w="25400">
            <a:solidFill>
              <a:srgbClr val="2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7490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AAC3D7"/>
                </a:solidFill>
                <a:latin typeface="Aptos"/>
              </a:rPr>
              <a:t>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AI-assisted • Standardized • Traceable • 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E2F4"/>
                </a:solidFill>
                <a:latin typeface="Aptos"/>
              </a:rPr>
              <a:t>Faster preparation → more consistent inputs → faster readiness for Coverage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A42"/>
                </a:solidFill>
                <a:latin typeface="Aptos"/>
              </a:rPr>
              <a:t>5-Minute Demo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07C"/>
                </a:solidFill>
                <a:latin typeface="Aptos"/>
              </a:rPr>
              <a:t>Recommended live demonstration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331720" cy="1097280"/>
          </a:xfrm>
          <a:prstGeom prst="roundRect">
            <a:avLst/>
          </a:prstGeom>
          <a:solidFill>
            <a:srgbClr val="2369A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331720" cy="1097280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2331720" cy="1097280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Guide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25880"/>
            <a:ext cx="2331720" cy="1097280"/>
          </a:xfrm>
          <a:prstGeom prst="roundRect">
            <a:avLst/>
          </a:prstGeom>
          <a:solidFill>
            <a:srgbClr val="E68736"/>
          </a:solidFill>
          <a:ln>
            <a:solidFill>
              <a:srgbClr val="E6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453895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CSI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0136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74720"/>
            <a:ext cx="2331720" cy="1097280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474720"/>
            <a:ext cx="2331720" cy="10972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6. Client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74720"/>
            <a:ext cx="2331720" cy="1097280"/>
          </a:xfrm>
          <a:prstGeom prst="roundRect">
            <a:avLst/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7. Quality /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474720"/>
            <a:ext cx="2331720" cy="1097280"/>
          </a:xfrm>
          <a:prstGeom prst="roundRect">
            <a:avLst/>
          </a:prstGeom>
          <a:solidFill>
            <a:srgbClr val="64707C"/>
          </a:solidFill>
          <a:ln>
            <a:solidFill>
              <a:srgbClr val="64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3602736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8.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950208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show this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Aptos"/>
              </a:rPr>
              <a:t>Key message: AI understands the business context; deterministic processing executes the decision safely.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CSI Smart Data Transformation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CE2F4"/>
                </a:solidFill>
                <a:latin typeface="Aptos"/>
              </a:rPr>
              <a:t>AI-powered preparation and normalization of client shipment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657600"/>
            <a:ext cx="2011680" cy="347472"/>
          </a:xfrm>
          <a:prstGeom prst="roundRect">
            <a:avLst/>
          </a:prstGeom>
          <a:solidFill>
            <a:srgbClr val="7052A8"/>
          </a:solidFill>
          <a:ln>
            <a:solidFill>
              <a:srgbClr val="705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3685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BUSINESS-AWARE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3657600"/>
            <a:ext cx="1828800" cy="347472"/>
          </a:xfrm>
          <a:prstGeom prst="roundRect">
            <a:avLst/>
          </a:prstGeom>
          <a:solidFill>
            <a:srgbClr val="209CB4"/>
          </a:solidFill>
          <a:ln>
            <a:solidFill>
              <a:srgbClr val="2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3212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TRACEABLE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657600"/>
            <a:ext cx="1645920" cy="347472"/>
          </a:xfrm>
          <a:prstGeom prst="roundRect">
            <a:avLst/>
          </a:prstGeom>
          <a:solidFill>
            <a:srgbClr val="2B8963"/>
          </a:solidFill>
          <a:ln>
            <a:solidFill>
              <a:srgbClr val="2B8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3685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Ready the data. Reduce repetitive preparation. Standardize the path to Coverage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C"/>
                </a:solidFill>
                <a:latin typeface="Aptos"/>
              </a:rPr>
              <a:t>CSI Smart Data Transformation Platform | Hackfest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707C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1534</Words>
  <Application>Microsoft Office PowerPoint</Application>
  <PresentationFormat>Widescreen</PresentationFormat>
  <Paragraphs>460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Raja</cp:lastModifiedBy>
  <cp:revision>2</cp:revision>
  <dcterms:created xsi:type="dcterms:W3CDTF">2013-01-27T09:14:16Z</dcterms:created>
  <dcterms:modified xsi:type="dcterms:W3CDTF">2026-09-23T22:47:56Z</dcterms:modified>
  <cp:category/>
</cp:coreProperties>
</file>